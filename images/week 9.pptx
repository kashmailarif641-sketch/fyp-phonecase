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58" r:id="rId5"/>
    <p:sldId id="259" r:id="rId6"/>
    <p:sldId id="261" r:id="rId7"/>
    <p:sldId id="260" r:id="rId8"/>
    <p:sldId id="262" r:id="rId9"/>
    <p:sldId id="263" r:id="rId10"/>
    <p:sldId id="264" r:id="rId11"/>
    <p:sldId id="265" r:id="rId12"/>
    <p:sldId id="266" r:id="rId13"/>
    <p:sldId id="267" r:id="rId14"/>
    <p:sldId id="268" r:id="rId15"/>
    <p:sldId id="269" r:id="rId16"/>
    <p:sldId id="270" r:id="rId17"/>
    <p:sldId id="271" r:id="rId18"/>
    <p:sldId id="273" r:id="rId19"/>
    <p:sldId id="274" r:id="rId20"/>
    <p:sldId id="277" r:id="rId21"/>
    <p:sldId id="278"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46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WednesdayWed/29/04/2020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WednesdayWed/29/04/2020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WednesdayWed/29/04/2020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WednesdayWed/29/04/2020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WednesdayWed/29/04/2020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WednesdayWed/29/04/2020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WednesdayWed/29/04/2020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WednesdayWed/29/04/2020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WednesdayWed/29/04/2020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WednesdayWed/29/04/2020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WednesdayWed/29/04/2020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WednesdayWed/29/04/2020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3600" dirty="0"/>
              <a:t>THE ASSESSMENT OF ENTREPRENEURIAL OPPORTUNITIES</a:t>
            </a:r>
          </a:p>
        </p:txBody>
      </p:sp>
      <p:sp>
        <p:nvSpPr>
          <p:cNvPr id="3" name="Subtitle 2"/>
          <p:cNvSpPr>
            <a:spLocks noGrp="1"/>
          </p:cNvSpPr>
          <p:nvPr>
            <p:ph type="subTitle" idx="1"/>
          </p:nvPr>
        </p:nvSpPr>
        <p:spPr/>
        <p:txBody>
          <a:bodyPr/>
          <a:lstStyle/>
          <a:p>
            <a:r>
              <a:rPr lang="en-US" dirty="0" smtClean="0"/>
              <a:t>Lecture 9</a:t>
            </a:r>
            <a:endParaRPr lang="en-US" dirty="0"/>
          </a:p>
        </p:txBody>
      </p:sp>
    </p:spTree>
    <p:extLst>
      <p:ext uri="{BB962C8B-B14F-4D97-AF65-F5344CB8AC3E}">
        <p14:creationId xmlns:p14="http://schemas.microsoft.com/office/powerpoint/2010/main" val="35364208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ELEMENTS OF AN OPPORTUNITY ASSESSMENT</a:t>
            </a:r>
          </a:p>
        </p:txBody>
      </p:sp>
      <p:sp>
        <p:nvSpPr>
          <p:cNvPr id="3" name="Content Placeholder 2"/>
          <p:cNvSpPr>
            <a:spLocks noGrp="1"/>
          </p:cNvSpPr>
          <p:nvPr>
            <p:ph idx="1"/>
          </p:nvPr>
        </p:nvSpPr>
        <p:spPr/>
        <p:txBody>
          <a:bodyPr>
            <a:normAutofit fontScale="85000" lnSpcReduction="10000"/>
          </a:bodyPr>
          <a:lstStyle/>
          <a:p>
            <a:r>
              <a:rPr lang="en-US" dirty="0" smtClean="0"/>
              <a:t>It is very crucial to </a:t>
            </a:r>
            <a:r>
              <a:rPr lang="en-US" dirty="0"/>
              <a:t>assess whether an innovative idea is truly a feasible opportunity worth </a:t>
            </a:r>
            <a:r>
              <a:rPr lang="en-US" dirty="0" smtClean="0"/>
              <a:t>pursuing for commercialization or not.</a:t>
            </a:r>
          </a:p>
          <a:p>
            <a:r>
              <a:rPr lang="en-US" dirty="0"/>
              <a:t>Success depends on </a:t>
            </a:r>
            <a:r>
              <a:rPr lang="en-US" dirty="0" smtClean="0"/>
              <a:t>three key </a:t>
            </a:r>
            <a:r>
              <a:rPr lang="en-US" dirty="0"/>
              <a:t>factors: </a:t>
            </a:r>
            <a:endParaRPr lang="en-US" dirty="0" smtClean="0"/>
          </a:p>
          <a:p>
            <a:pPr lvl="1"/>
            <a:r>
              <a:rPr lang="en-US" dirty="0" smtClean="0"/>
              <a:t>characteristics </a:t>
            </a:r>
            <a:r>
              <a:rPr lang="en-US" dirty="0"/>
              <a:t>of the entrepreneur – personal </a:t>
            </a:r>
            <a:r>
              <a:rPr lang="en-US" dirty="0" smtClean="0"/>
              <a:t>reasons and motivations </a:t>
            </a:r>
            <a:r>
              <a:rPr lang="en-US" dirty="0"/>
              <a:t>for start-up; </a:t>
            </a:r>
            <a:endParaRPr lang="en-US" dirty="0" smtClean="0"/>
          </a:p>
          <a:p>
            <a:pPr lvl="1"/>
            <a:r>
              <a:rPr lang="en-US" dirty="0" smtClean="0"/>
              <a:t>characteristics </a:t>
            </a:r>
            <a:r>
              <a:rPr lang="en-US" dirty="0"/>
              <a:t>of the opportunity such as trends, risks, market size and resource availability; and </a:t>
            </a:r>
            <a:endParaRPr lang="en-US" dirty="0" smtClean="0"/>
          </a:p>
          <a:p>
            <a:pPr lvl="1"/>
            <a:r>
              <a:rPr lang="en-US" dirty="0" smtClean="0"/>
              <a:t>the </a:t>
            </a:r>
            <a:r>
              <a:rPr lang="en-US" dirty="0"/>
              <a:t>nature of the venture itself – differing scalability, growth potential and </a:t>
            </a:r>
            <a:r>
              <a:rPr lang="en-US" dirty="0" smtClean="0"/>
              <a:t>performance.</a:t>
            </a:r>
            <a:endParaRPr lang="en-US" dirty="0"/>
          </a:p>
        </p:txBody>
      </p:sp>
    </p:spTree>
    <p:extLst>
      <p:ext uri="{BB962C8B-B14F-4D97-AF65-F5344CB8AC3E}">
        <p14:creationId xmlns:p14="http://schemas.microsoft.com/office/powerpoint/2010/main" val="9550326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ELEMENTS OF AN OPPORTUNITY ASSESSMENT</a:t>
            </a:r>
          </a:p>
        </p:txBody>
      </p:sp>
      <p:sp>
        <p:nvSpPr>
          <p:cNvPr id="3" name="Content Placeholder 2"/>
          <p:cNvSpPr>
            <a:spLocks noGrp="1"/>
          </p:cNvSpPr>
          <p:nvPr>
            <p:ph idx="1"/>
          </p:nvPr>
        </p:nvSpPr>
        <p:spPr/>
        <p:txBody>
          <a:bodyPr>
            <a:normAutofit fontScale="77500" lnSpcReduction="20000"/>
          </a:bodyPr>
          <a:lstStyle/>
          <a:p>
            <a:r>
              <a:rPr lang="en-US" dirty="0" smtClean="0"/>
              <a:t>Theory </a:t>
            </a:r>
            <a:r>
              <a:rPr lang="en-US" dirty="0"/>
              <a:t>of alertness asserts that entrepreneurs are </a:t>
            </a:r>
            <a:r>
              <a:rPr lang="en-US" dirty="0" smtClean="0"/>
              <a:t>opportunity identifiers </a:t>
            </a:r>
            <a:r>
              <a:rPr lang="en-US" dirty="0"/>
              <a:t>who can spot unexploited market niches in advance of other people</a:t>
            </a:r>
            <a:r>
              <a:rPr lang="en-US" dirty="0" smtClean="0"/>
              <a:t>.</a:t>
            </a:r>
          </a:p>
          <a:p>
            <a:r>
              <a:rPr lang="en-US" dirty="0"/>
              <a:t>Entrepreneurs </a:t>
            </a:r>
            <a:r>
              <a:rPr lang="en-US" dirty="0" smtClean="0"/>
              <a:t>should examine </a:t>
            </a:r>
            <a:r>
              <a:rPr lang="en-US" dirty="0"/>
              <a:t>the available information that supports an idea </a:t>
            </a:r>
            <a:r>
              <a:rPr lang="en-US" dirty="0" smtClean="0"/>
              <a:t>alongside </a:t>
            </a:r>
            <a:r>
              <a:rPr lang="en-US" dirty="0"/>
              <a:t>simultaneously accessing social networks to better inform and shape the idea into an </a:t>
            </a:r>
            <a:r>
              <a:rPr lang="en-US" dirty="0" smtClean="0"/>
              <a:t>opportunity.</a:t>
            </a:r>
          </a:p>
          <a:p>
            <a:r>
              <a:rPr lang="en-US" dirty="0" smtClean="0"/>
              <a:t>Opportunities </a:t>
            </a:r>
            <a:r>
              <a:rPr lang="en-US" dirty="0"/>
              <a:t>differ across markets, technologies and situational </a:t>
            </a:r>
            <a:r>
              <a:rPr lang="en-US" dirty="0" smtClean="0"/>
              <a:t>contexts </a:t>
            </a:r>
            <a:r>
              <a:rPr lang="en-US" dirty="0"/>
              <a:t>while the perception of opportunities can differ among individuals, depending on factors like gender</a:t>
            </a:r>
            <a:r>
              <a:rPr lang="en-US" dirty="0" smtClean="0"/>
              <a:t>, </a:t>
            </a:r>
            <a:r>
              <a:rPr lang="en-US" dirty="0"/>
              <a:t>emotional </a:t>
            </a:r>
            <a:r>
              <a:rPr lang="en-US" dirty="0" smtClean="0"/>
              <a:t>state </a:t>
            </a:r>
            <a:r>
              <a:rPr lang="en-US" dirty="0"/>
              <a:t>and </a:t>
            </a:r>
            <a:r>
              <a:rPr lang="en-US" dirty="0" smtClean="0"/>
              <a:t>self-confidence.</a:t>
            </a:r>
            <a:endParaRPr lang="en-US" dirty="0"/>
          </a:p>
        </p:txBody>
      </p:sp>
    </p:spTree>
    <p:extLst>
      <p:ext uri="{BB962C8B-B14F-4D97-AF65-F5344CB8AC3E}">
        <p14:creationId xmlns:p14="http://schemas.microsoft.com/office/powerpoint/2010/main" val="22449676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DO WE MODEL THE ENTREPRENEURIAL </a:t>
            </a:r>
            <a:r>
              <a:rPr lang="en-US" dirty="0" smtClean="0"/>
              <a:t>PROCESS?</a:t>
            </a:r>
            <a:endParaRPr lang="en-US" dirty="0"/>
          </a:p>
        </p:txBody>
      </p:sp>
      <p:sp>
        <p:nvSpPr>
          <p:cNvPr id="3" name="Content Placeholder 2"/>
          <p:cNvSpPr>
            <a:spLocks noGrp="1"/>
          </p:cNvSpPr>
          <p:nvPr>
            <p:ph idx="1"/>
          </p:nvPr>
        </p:nvSpPr>
        <p:spPr/>
        <p:txBody>
          <a:bodyPr>
            <a:normAutofit fontScale="92500" lnSpcReduction="20000"/>
          </a:bodyPr>
          <a:lstStyle/>
          <a:p>
            <a:r>
              <a:rPr lang="en-US" dirty="0"/>
              <a:t>Ideas come relatively </a:t>
            </a:r>
            <a:r>
              <a:rPr lang="en-US" dirty="0" smtClean="0"/>
              <a:t>easily than </a:t>
            </a:r>
            <a:r>
              <a:rPr lang="en-US" dirty="0"/>
              <a:t>identifying an entrepreneurial </a:t>
            </a:r>
            <a:r>
              <a:rPr lang="en-US" dirty="0" smtClean="0"/>
              <a:t>opportunity – ‘an idea which resolves a problem or adds value for customers and they are willing to pay for it.’</a:t>
            </a:r>
          </a:p>
          <a:p>
            <a:r>
              <a:rPr lang="en-US" dirty="0"/>
              <a:t>Opportunity recognition is more a creative and intuitive process than a scientific analysis</a:t>
            </a:r>
            <a:r>
              <a:rPr lang="en-US" dirty="0" smtClean="0"/>
              <a:t>.</a:t>
            </a:r>
          </a:p>
          <a:p>
            <a:r>
              <a:rPr lang="en-US" dirty="0" smtClean="0"/>
              <a:t>People </a:t>
            </a:r>
            <a:r>
              <a:rPr lang="en-US" dirty="0"/>
              <a:t>find opportunities more often in industries with which they are </a:t>
            </a:r>
            <a:r>
              <a:rPr lang="en-US" dirty="0" smtClean="0"/>
              <a:t>familiar or have a natural aptitude for.</a:t>
            </a:r>
          </a:p>
        </p:txBody>
      </p:sp>
    </p:spTree>
    <p:extLst>
      <p:ext uri="{BB962C8B-B14F-4D97-AF65-F5344CB8AC3E}">
        <p14:creationId xmlns:p14="http://schemas.microsoft.com/office/powerpoint/2010/main" val="4006877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DO WE MODEL THE ENTREPRENEURIAL PROCESS?</a:t>
            </a:r>
          </a:p>
        </p:txBody>
      </p:sp>
      <p:pic>
        <p:nvPicPr>
          <p:cNvPr id="1026" name="Picture 2" descr="C:\Users\qasim.NATIONALFURNISH\Desktop\bbb.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8400" y="1676400"/>
            <a:ext cx="4094767"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0212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DO WE MODEL THE ENTREPRENEURIAL PROCESS?</a:t>
            </a:r>
          </a:p>
        </p:txBody>
      </p:sp>
      <p:sp>
        <p:nvSpPr>
          <p:cNvPr id="3" name="Content Placeholder 2"/>
          <p:cNvSpPr>
            <a:spLocks noGrp="1"/>
          </p:cNvSpPr>
          <p:nvPr>
            <p:ph idx="1"/>
          </p:nvPr>
        </p:nvSpPr>
        <p:spPr/>
        <p:txBody>
          <a:bodyPr>
            <a:normAutofit fontScale="77500" lnSpcReduction="20000"/>
          </a:bodyPr>
          <a:lstStyle/>
          <a:p>
            <a:r>
              <a:rPr lang="en-US" dirty="0"/>
              <a:t>The </a:t>
            </a:r>
            <a:r>
              <a:rPr lang="en-US" dirty="0" smtClean="0"/>
              <a:t>entrepreneurial process </a:t>
            </a:r>
            <a:r>
              <a:rPr lang="en-US" dirty="0"/>
              <a:t>includes three interrelated </a:t>
            </a:r>
            <a:r>
              <a:rPr lang="en-US" dirty="0" smtClean="0"/>
              <a:t>domains </a:t>
            </a:r>
            <a:r>
              <a:rPr lang="en-US" dirty="0"/>
              <a:t>of activity (on right): </a:t>
            </a:r>
            <a:endParaRPr lang="en-US" dirty="0" smtClean="0"/>
          </a:p>
          <a:p>
            <a:pPr lvl="1"/>
            <a:r>
              <a:rPr lang="en-US" dirty="0" smtClean="0"/>
              <a:t>the strategic; </a:t>
            </a:r>
            <a:endParaRPr lang="en-US" dirty="0"/>
          </a:p>
          <a:p>
            <a:pPr lvl="1"/>
            <a:r>
              <a:rPr lang="en-US" dirty="0" smtClean="0"/>
              <a:t>the personal; </a:t>
            </a:r>
            <a:r>
              <a:rPr lang="en-US" dirty="0"/>
              <a:t>and </a:t>
            </a:r>
            <a:endParaRPr lang="en-US" dirty="0" smtClean="0"/>
          </a:p>
          <a:p>
            <a:pPr lvl="1"/>
            <a:r>
              <a:rPr lang="en-US" dirty="0" smtClean="0"/>
              <a:t>the </a:t>
            </a:r>
            <a:r>
              <a:rPr lang="en-US" dirty="0"/>
              <a:t>tactical</a:t>
            </a:r>
            <a:r>
              <a:rPr lang="en-US" dirty="0" smtClean="0"/>
              <a:t>.</a:t>
            </a:r>
          </a:p>
          <a:p>
            <a:r>
              <a:rPr lang="en-US" dirty="0"/>
              <a:t>Each domain requires a distinctive capacity (on left): </a:t>
            </a:r>
            <a:endParaRPr lang="en-US" dirty="0" smtClean="0"/>
          </a:p>
          <a:p>
            <a:pPr lvl="1"/>
            <a:r>
              <a:rPr lang="en-US" dirty="0" smtClean="0"/>
              <a:t>entrepreneurial capacity - evaluating </a:t>
            </a:r>
            <a:r>
              <a:rPr lang="en-US" dirty="0"/>
              <a:t>the opportunity and developing the business </a:t>
            </a:r>
            <a:r>
              <a:rPr lang="en-US" dirty="0" smtClean="0"/>
              <a:t>model; </a:t>
            </a:r>
          </a:p>
          <a:p>
            <a:pPr lvl="1"/>
            <a:r>
              <a:rPr lang="en-US" dirty="0" smtClean="0"/>
              <a:t>psychological </a:t>
            </a:r>
            <a:r>
              <a:rPr lang="en-US" dirty="0"/>
              <a:t>capacity </a:t>
            </a:r>
            <a:r>
              <a:rPr lang="en-US" dirty="0" smtClean="0"/>
              <a:t>- behaviors </a:t>
            </a:r>
            <a:r>
              <a:rPr lang="en-US" dirty="0"/>
              <a:t>and </a:t>
            </a:r>
            <a:r>
              <a:rPr lang="en-US" dirty="0" smtClean="0"/>
              <a:t>commitment; </a:t>
            </a:r>
            <a:r>
              <a:rPr lang="en-US" dirty="0"/>
              <a:t>and </a:t>
            </a:r>
            <a:endParaRPr lang="en-US" dirty="0" smtClean="0"/>
          </a:p>
          <a:p>
            <a:pPr lvl="1"/>
            <a:r>
              <a:rPr lang="en-US" dirty="0" smtClean="0"/>
              <a:t>managerial </a:t>
            </a:r>
            <a:r>
              <a:rPr lang="en-US" dirty="0"/>
              <a:t>capacity </a:t>
            </a:r>
            <a:r>
              <a:rPr lang="en-US" dirty="0" smtClean="0"/>
              <a:t>- such </a:t>
            </a:r>
            <a:r>
              <a:rPr lang="en-US" dirty="0"/>
              <a:t>as accounting and </a:t>
            </a:r>
            <a:r>
              <a:rPr lang="en-US" dirty="0" smtClean="0"/>
              <a:t>marketing.</a:t>
            </a:r>
            <a:endParaRPr lang="en-US" dirty="0"/>
          </a:p>
        </p:txBody>
      </p:sp>
    </p:spTree>
    <p:extLst>
      <p:ext uri="{BB962C8B-B14F-4D97-AF65-F5344CB8AC3E}">
        <p14:creationId xmlns:p14="http://schemas.microsoft.com/office/powerpoint/2010/main" val="2323270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TO ASSESS AN OPPORTUNITY</a:t>
            </a:r>
          </a:p>
        </p:txBody>
      </p:sp>
      <p:sp>
        <p:nvSpPr>
          <p:cNvPr id="3" name="Content Placeholder 2"/>
          <p:cNvSpPr>
            <a:spLocks noGrp="1"/>
          </p:cNvSpPr>
          <p:nvPr>
            <p:ph idx="1"/>
          </p:nvPr>
        </p:nvSpPr>
        <p:spPr/>
        <p:txBody>
          <a:bodyPr>
            <a:normAutofit/>
          </a:bodyPr>
          <a:lstStyle/>
          <a:p>
            <a:r>
              <a:rPr lang="en-US" dirty="0" smtClean="0"/>
              <a:t>Five critical factors in opportunity assessment are:</a:t>
            </a:r>
          </a:p>
          <a:p>
            <a:pPr lvl="1"/>
            <a:r>
              <a:rPr lang="en-US" dirty="0" smtClean="0"/>
              <a:t>Uniqueness</a:t>
            </a:r>
          </a:p>
          <a:p>
            <a:pPr lvl="2"/>
            <a:r>
              <a:rPr lang="en-US" dirty="0" smtClean="0"/>
              <a:t>Will </a:t>
            </a:r>
            <a:r>
              <a:rPr lang="en-US" dirty="0"/>
              <a:t>new products, new </a:t>
            </a:r>
            <a:r>
              <a:rPr lang="en-US" dirty="0" smtClean="0"/>
              <a:t>technology, </a:t>
            </a:r>
            <a:r>
              <a:rPr lang="en-US" dirty="0"/>
              <a:t>and new markets be </a:t>
            </a:r>
            <a:r>
              <a:rPr lang="en-US" dirty="0" smtClean="0"/>
              <a:t>required?</a:t>
            </a:r>
          </a:p>
          <a:p>
            <a:pPr lvl="1"/>
            <a:r>
              <a:rPr lang="en-US" dirty="0" smtClean="0"/>
              <a:t>Investment</a:t>
            </a:r>
          </a:p>
          <a:p>
            <a:pPr lvl="2"/>
            <a:r>
              <a:rPr lang="en-US" dirty="0" smtClean="0"/>
              <a:t>What is the required size of investment and </a:t>
            </a:r>
            <a:r>
              <a:rPr lang="en-US" dirty="0"/>
              <a:t>timing of funds </a:t>
            </a:r>
            <a:r>
              <a:rPr lang="en-US" dirty="0" smtClean="0"/>
              <a:t>to </a:t>
            </a:r>
            <a:r>
              <a:rPr lang="en-US" dirty="0"/>
              <a:t>move through the venture </a:t>
            </a:r>
            <a:r>
              <a:rPr lang="en-US" dirty="0" smtClean="0"/>
              <a:t>process?</a:t>
            </a:r>
          </a:p>
        </p:txBody>
      </p:sp>
    </p:spTree>
    <p:extLst>
      <p:ext uri="{BB962C8B-B14F-4D97-AF65-F5344CB8AC3E}">
        <p14:creationId xmlns:p14="http://schemas.microsoft.com/office/powerpoint/2010/main" val="37199995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TO ASSESS AN OPPORTUNITY</a:t>
            </a:r>
          </a:p>
        </p:txBody>
      </p:sp>
      <p:sp>
        <p:nvSpPr>
          <p:cNvPr id="3" name="Content Placeholder 2"/>
          <p:cNvSpPr>
            <a:spLocks noGrp="1"/>
          </p:cNvSpPr>
          <p:nvPr>
            <p:ph idx="1"/>
          </p:nvPr>
        </p:nvSpPr>
        <p:spPr/>
        <p:txBody>
          <a:bodyPr/>
          <a:lstStyle/>
          <a:p>
            <a:pPr lvl="1"/>
            <a:r>
              <a:rPr lang="en-US" dirty="0"/>
              <a:t>Growth of sales</a:t>
            </a:r>
          </a:p>
          <a:p>
            <a:pPr lvl="2"/>
            <a:r>
              <a:rPr lang="en-US" dirty="0"/>
              <a:t>What is the growth pattern anticipated for new-venture sales and profits</a:t>
            </a:r>
            <a:r>
              <a:rPr lang="en-US" dirty="0" smtClean="0"/>
              <a:t>?</a:t>
            </a:r>
          </a:p>
          <a:p>
            <a:pPr lvl="1"/>
            <a:r>
              <a:rPr lang="en-US" dirty="0" smtClean="0"/>
              <a:t>Product </a:t>
            </a:r>
            <a:r>
              <a:rPr lang="en-US" dirty="0"/>
              <a:t>availability</a:t>
            </a:r>
          </a:p>
          <a:p>
            <a:pPr lvl="2"/>
            <a:r>
              <a:rPr lang="en-US" dirty="0" smtClean="0"/>
              <a:t>Is </a:t>
            </a:r>
            <a:r>
              <a:rPr lang="en-US" dirty="0"/>
              <a:t>a saleable good or service</a:t>
            </a:r>
            <a:r>
              <a:rPr lang="en-US" dirty="0" smtClean="0"/>
              <a:t> available in its finished form, </a:t>
            </a:r>
            <a:r>
              <a:rPr lang="en-US" dirty="0"/>
              <a:t>at the </a:t>
            </a:r>
            <a:r>
              <a:rPr lang="en-US" dirty="0" smtClean="0"/>
              <a:t>time </a:t>
            </a:r>
            <a:r>
              <a:rPr lang="en-US" dirty="0"/>
              <a:t>the venture opens its doors?</a:t>
            </a:r>
          </a:p>
          <a:p>
            <a:pPr lvl="1"/>
            <a:r>
              <a:rPr lang="en-US" dirty="0"/>
              <a:t>Customer </a:t>
            </a:r>
            <a:r>
              <a:rPr lang="en-US" dirty="0" smtClean="0"/>
              <a:t>availability</a:t>
            </a:r>
          </a:p>
          <a:p>
            <a:pPr lvl="2"/>
            <a:r>
              <a:rPr lang="en-US" dirty="0" smtClean="0"/>
              <a:t>Are the customers available who are willing to pay for </a:t>
            </a:r>
            <a:r>
              <a:rPr lang="en-US" dirty="0"/>
              <a:t>good or </a:t>
            </a:r>
            <a:r>
              <a:rPr lang="en-US" dirty="0" smtClean="0"/>
              <a:t>service?</a:t>
            </a:r>
            <a:endParaRPr lang="en-US" dirty="0"/>
          </a:p>
        </p:txBody>
      </p:sp>
    </p:spTree>
    <p:extLst>
      <p:ext uri="{BB962C8B-B14F-4D97-AF65-F5344CB8AC3E}">
        <p14:creationId xmlns:p14="http://schemas.microsoft.com/office/powerpoint/2010/main" val="24131632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WHEN IS AN IDEA NOT AN OPPORTUNITY?</a:t>
            </a:r>
          </a:p>
        </p:txBody>
      </p:sp>
      <p:sp>
        <p:nvSpPr>
          <p:cNvPr id="3" name="Content Placeholder 2"/>
          <p:cNvSpPr>
            <a:spLocks noGrp="1"/>
          </p:cNvSpPr>
          <p:nvPr>
            <p:ph idx="1"/>
          </p:nvPr>
        </p:nvSpPr>
        <p:spPr/>
        <p:txBody>
          <a:bodyPr>
            <a:normAutofit fontScale="85000" lnSpcReduction="10000"/>
          </a:bodyPr>
          <a:lstStyle/>
          <a:p>
            <a:r>
              <a:rPr lang="en-US" dirty="0"/>
              <a:t>The following are </a:t>
            </a:r>
            <a:r>
              <a:rPr lang="en-US" dirty="0" smtClean="0"/>
              <a:t>seven </a:t>
            </a:r>
            <a:r>
              <a:rPr lang="en-US" dirty="0"/>
              <a:t>most common pitfalls encountered in the process of assessing whether a new venture idea is an </a:t>
            </a:r>
            <a:r>
              <a:rPr lang="en-US" dirty="0" smtClean="0"/>
              <a:t>opportunity:</a:t>
            </a:r>
          </a:p>
          <a:p>
            <a:pPr lvl="1"/>
            <a:r>
              <a:rPr lang="en-US" dirty="0"/>
              <a:t>Lack of objective </a:t>
            </a:r>
            <a:r>
              <a:rPr lang="en-US" dirty="0" smtClean="0"/>
              <a:t>evaluation</a:t>
            </a:r>
          </a:p>
          <a:p>
            <a:pPr lvl="1"/>
            <a:r>
              <a:rPr lang="en-US" dirty="0"/>
              <a:t>No real insight into the </a:t>
            </a:r>
            <a:r>
              <a:rPr lang="en-US" dirty="0" smtClean="0"/>
              <a:t>market</a:t>
            </a:r>
          </a:p>
          <a:p>
            <a:pPr lvl="1"/>
            <a:r>
              <a:rPr lang="en-US" dirty="0"/>
              <a:t>Inadequate understanding of technical </a:t>
            </a:r>
            <a:r>
              <a:rPr lang="en-US" dirty="0" smtClean="0"/>
              <a:t>requirements</a:t>
            </a:r>
          </a:p>
          <a:p>
            <a:pPr lvl="1"/>
            <a:r>
              <a:rPr lang="en-US" dirty="0"/>
              <a:t>Poor financial </a:t>
            </a:r>
            <a:r>
              <a:rPr lang="en-US" dirty="0" smtClean="0"/>
              <a:t>understanding</a:t>
            </a:r>
          </a:p>
          <a:p>
            <a:pPr lvl="1"/>
            <a:r>
              <a:rPr lang="en-US" dirty="0"/>
              <a:t>Lack of venture </a:t>
            </a:r>
            <a:r>
              <a:rPr lang="en-US" dirty="0" smtClean="0"/>
              <a:t>uniqueness</a:t>
            </a:r>
          </a:p>
          <a:p>
            <a:pPr lvl="1"/>
            <a:r>
              <a:rPr lang="en-US" dirty="0"/>
              <a:t>Ignorance of legal and regulatory </a:t>
            </a:r>
            <a:r>
              <a:rPr lang="en-US" dirty="0" smtClean="0"/>
              <a:t>issues</a:t>
            </a:r>
          </a:p>
          <a:p>
            <a:pPr lvl="1"/>
            <a:r>
              <a:rPr lang="en-US" dirty="0"/>
              <a:t>Lack of insight regarding industry structure</a:t>
            </a:r>
          </a:p>
        </p:txBody>
      </p:sp>
    </p:spTree>
    <p:extLst>
      <p:ext uri="{BB962C8B-B14F-4D97-AF65-F5344CB8AC3E}">
        <p14:creationId xmlns:p14="http://schemas.microsoft.com/office/powerpoint/2010/main" val="3444338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EVALUATION PROCESS</a:t>
            </a:r>
          </a:p>
        </p:txBody>
      </p:sp>
      <p:sp>
        <p:nvSpPr>
          <p:cNvPr id="3" name="Content Placeholder 2"/>
          <p:cNvSpPr>
            <a:spLocks noGrp="1"/>
          </p:cNvSpPr>
          <p:nvPr>
            <p:ph idx="1"/>
          </p:nvPr>
        </p:nvSpPr>
        <p:spPr/>
        <p:txBody>
          <a:bodyPr>
            <a:normAutofit fontScale="85000" lnSpcReduction="20000"/>
          </a:bodyPr>
          <a:lstStyle/>
          <a:p>
            <a:r>
              <a:rPr lang="en-US" dirty="0"/>
              <a:t>ANALYSING THE OPPORTUNITY </a:t>
            </a:r>
            <a:r>
              <a:rPr lang="en-US" dirty="0" smtClean="0"/>
              <a:t>LANDSCAPE:</a:t>
            </a:r>
          </a:p>
          <a:p>
            <a:pPr lvl="1"/>
            <a:r>
              <a:rPr lang="en-US" dirty="0"/>
              <a:t>PESTLE </a:t>
            </a:r>
            <a:r>
              <a:rPr lang="en-US" dirty="0" smtClean="0"/>
              <a:t>(Political</a:t>
            </a:r>
            <a:r>
              <a:rPr lang="en-US" dirty="0"/>
              <a:t>, Economic, Sociocultural, Technological, Legal and </a:t>
            </a:r>
            <a:r>
              <a:rPr lang="en-US" dirty="0" smtClean="0"/>
              <a:t>Environmental) analysis is used to:</a:t>
            </a:r>
          </a:p>
          <a:p>
            <a:pPr lvl="2"/>
            <a:r>
              <a:rPr lang="en-US" dirty="0"/>
              <a:t>locate the source of the opportunity or the changing conditions that present the </a:t>
            </a:r>
            <a:r>
              <a:rPr lang="en-US" dirty="0" smtClean="0"/>
              <a:t>opportunity; </a:t>
            </a:r>
          </a:p>
          <a:p>
            <a:pPr lvl="2"/>
            <a:r>
              <a:rPr lang="en-US" dirty="0" smtClean="0"/>
              <a:t>identify </a:t>
            </a:r>
            <a:r>
              <a:rPr lang="en-US" dirty="0"/>
              <a:t>the size of the likely market needs that may arise from these changing </a:t>
            </a:r>
            <a:r>
              <a:rPr lang="en-US" dirty="0" smtClean="0"/>
              <a:t>conditions;</a:t>
            </a:r>
            <a:endParaRPr lang="en-US" dirty="0"/>
          </a:p>
          <a:p>
            <a:pPr lvl="2"/>
            <a:r>
              <a:rPr lang="en-US" dirty="0" smtClean="0"/>
              <a:t>identify </a:t>
            </a:r>
            <a:r>
              <a:rPr lang="en-US" dirty="0"/>
              <a:t>the likely duration of the need and how the conditions will influence the timing of the </a:t>
            </a:r>
            <a:r>
              <a:rPr lang="en-US" dirty="0" smtClean="0"/>
              <a:t>opportunity; </a:t>
            </a:r>
          </a:p>
          <a:p>
            <a:pPr lvl="2"/>
            <a:r>
              <a:rPr lang="en-US" dirty="0" smtClean="0"/>
              <a:t>locate </a:t>
            </a:r>
            <a:r>
              <a:rPr lang="en-US" dirty="0"/>
              <a:t>the trends which create new needs and may show how the need will increase or decrease over </a:t>
            </a:r>
            <a:r>
              <a:rPr lang="en-US" dirty="0" smtClean="0"/>
              <a:t>time; and</a:t>
            </a:r>
            <a:endParaRPr lang="en-US" dirty="0"/>
          </a:p>
          <a:p>
            <a:pPr lvl="2"/>
            <a:r>
              <a:rPr lang="en-US" dirty="0" smtClean="0"/>
              <a:t>indicate </a:t>
            </a:r>
            <a:r>
              <a:rPr lang="en-US" dirty="0"/>
              <a:t>the emerging issues, values or lifestyles which uncover emerging needs.</a:t>
            </a:r>
          </a:p>
          <a:p>
            <a:pPr lvl="2"/>
            <a:endParaRPr lang="en-US" dirty="0" smtClean="0"/>
          </a:p>
          <a:p>
            <a:pPr lvl="2"/>
            <a:endParaRPr lang="en-US" dirty="0"/>
          </a:p>
        </p:txBody>
      </p:sp>
    </p:spTree>
    <p:extLst>
      <p:ext uri="{BB962C8B-B14F-4D97-AF65-F5344CB8AC3E}">
        <p14:creationId xmlns:p14="http://schemas.microsoft.com/office/powerpoint/2010/main" val="23873721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EVALUATION PROCESS</a:t>
            </a:r>
          </a:p>
        </p:txBody>
      </p:sp>
      <p:sp>
        <p:nvSpPr>
          <p:cNvPr id="3" name="Content Placeholder 2"/>
          <p:cNvSpPr>
            <a:spLocks noGrp="1"/>
          </p:cNvSpPr>
          <p:nvPr>
            <p:ph idx="1"/>
          </p:nvPr>
        </p:nvSpPr>
        <p:spPr/>
        <p:txBody>
          <a:bodyPr>
            <a:normAutofit fontScale="92500" lnSpcReduction="20000"/>
          </a:bodyPr>
          <a:lstStyle/>
          <a:p>
            <a:r>
              <a:rPr lang="en-US" dirty="0"/>
              <a:t>ASSESSING THE INDUSTRY </a:t>
            </a:r>
            <a:r>
              <a:rPr lang="en-US" dirty="0" smtClean="0"/>
              <a:t>ENVIRONMENT</a:t>
            </a:r>
          </a:p>
          <a:p>
            <a:pPr lvl="1"/>
            <a:r>
              <a:rPr lang="en-US" dirty="0" smtClean="0"/>
              <a:t>What </a:t>
            </a:r>
            <a:r>
              <a:rPr lang="en-US" dirty="0"/>
              <a:t>is the structure of the industry and how is it likely to evolve over time</a:t>
            </a:r>
            <a:r>
              <a:rPr lang="en-US" dirty="0" smtClean="0"/>
              <a:t>?</a:t>
            </a:r>
          </a:p>
          <a:p>
            <a:pPr lvl="2"/>
            <a:r>
              <a:rPr lang="en-US" dirty="0"/>
              <a:t>If the entrepreneur’s business is not in an attractive industry </a:t>
            </a:r>
            <a:r>
              <a:rPr lang="en-US" dirty="0" smtClean="0"/>
              <a:t>then </a:t>
            </a:r>
            <a:r>
              <a:rPr lang="en-US" dirty="0"/>
              <a:t>the person may want to get out of it or redefine it</a:t>
            </a:r>
            <a:r>
              <a:rPr lang="en-US" dirty="0" smtClean="0"/>
              <a:t>.</a:t>
            </a:r>
          </a:p>
          <a:p>
            <a:pPr lvl="1"/>
            <a:r>
              <a:rPr lang="en-US" dirty="0" smtClean="0"/>
              <a:t>What </a:t>
            </a:r>
            <a:r>
              <a:rPr lang="en-US" dirty="0"/>
              <a:t>is the company’s relative position in the industry</a:t>
            </a:r>
            <a:r>
              <a:rPr lang="en-US" dirty="0" smtClean="0"/>
              <a:t>?</a:t>
            </a:r>
          </a:p>
          <a:p>
            <a:pPr lvl="2"/>
            <a:r>
              <a:rPr lang="en-US" dirty="0" smtClean="0"/>
              <a:t>Entrepreneur </a:t>
            </a:r>
            <a:r>
              <a:rPr lang="en-US" dirty="0"/>
              <a:t>will not do well if </a:t>
            </a:r>
            <a:r>
              <a:rPr lang="en-US" dirty="0" smtClean="0"/>
              <a:t>his </a:t>
            </a:r>
            <a:r>
              <a:rPr lang="en-US" dirty="0"/>
              <a:t>company does not hold a good position in </a:t>
            </a:r>
            <a:r>
              <a:rPr lang="en-US" dirty="0" smtClean="0"/>
              <a:t>an attractive industry. </a:t>
            </a:r>
            <a:r>
              <a:rPr lang="en-US" dirty="0"/>
              <a:t>Conversely, the business can be in a </a:t>
            </a:r>
            <a:r>
              <a:rPr lang="en-US" dirty="0" err="1"/>
              <a:t>lacklustre</a:t>
            </a:r>
            <a:r>
              <a:rPr lang="en-US" dirty="0"/>
              <a:t> industry with low average profitability, yet if it occupies exactly the right niche it can perform well.</a:t>
            </a:r>
          </a:p>
        </p:txBody>
      </p:sp>
    </p:spTree>
    <p:extLst>
      <p:ext uri="{BB962C8B-B14F-4D97-AF65-F5344CB8AC3E}">
        <p14:creationId xmlns:p14="http://schemas.microsoft.com/office/powerpoint/2010/main" val="40887703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EVALUATION PROCESS</a:t>
            </a:r>
          </a:p>
        </p:txBody>
      </p:sp>
      <p:sp>
        <p:nvSpPr>
          <p:cNvPr id="3" name="Content Placeholder 2"/>
          <p:cNvSpPr>
            <a:spLocks noGrp="1"/>
          </p:cNvSpPr>
          <p:nvPr>
            <p:ph idx="1"/>
          </p:nvPr>
        </p:nvSpPr>
        <p:spPr/>
        <p:txBody>
          <a:bodyPr>
            <a:normAutofit fontScale="92500"/>
          </a:bodyPr>
          <a:lstStyle/>
          <a:p>
            <a:r>
              <a:rPr lang="en-US" sz="2800" dirty="0"/>
              <a:t>UNCERTAINTY ANALYSIS: Unlike risks, there is little one can do to mitigate uncertainty as there is no past experience of it to rely </a:t>
            </a:r>
            <a:r>
              <a:rPr lang="en-US" sz="2800" dirty="0" smtClean="0"/>
              <a:t>on.</a:t>
            </a:r>
          </a:p>
          <a:p>
            <a:pPr lvl="1"/>
            <a:r>
              <a:rPr lang="en-US" dirty="0"/>
              <a:t>Technological </a:t>
            </a:r>
            <a:r>
              <a:rPr lang="en-US" dirty="0" smtClean="0"/>
              <a:t>uncertainty</a:t>
            </a:r>
          </a:p>
          <a:p>
            <a:pPr lvl="2"/>
            <a:r>
              <a:rPr lang="en-US" dirty="0" smtClean="0"/>
              <a:t>Continuous technological advancements present great uncertainty in almost every industry.</a:t>
            </a:r>
          </a:p>
          <a:p>
            <a:pPr lvl="1"/>
            <a:r>
              <a:rPr lang="en-US" dirty="0"/>
              <a:t>Strategic uncertainty</a:t>
            </a:r>
          </a:p>
          <a:p>
            <a:pPr lvl="2"/>
            <a:r>
              <a:rPr lang="en-US" dirty="0"/>
              <a:t>Since no ‘right’ strategy exists, industry participants will formulate different approaches to product positioning, advertising, pricing, etc</a:t>
            </a:r>
            <a:r>
              <a:rPr lang="en-US" dirty="0" smtClean="0"/>
              <a:t>.</a:t>
            </a:r>
            <a:endParaRPr lang="en-US" dirty="0"/>
          </a:p>
        </p:txBody>
      </p:sp>
    </p:spTree>
    <p:extLst>
      <p:ext uri="{BB962C8B-B14F-4D97-AF65-F5344CB8AC3E}">
        <p14:creationId xmlns:p14="http://schemas.microsoft.com/office/powerpoint/2010/main" val="1134670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EVALUATION PROCESS</a:t>
            </a:r>
          </a:p>
        </p:txBody>
      </p:sp>
      <p:sp>
        <p:nvSpPr>
          <p:cNvPr id="3" name="Content Placeholder 2"/>
          <p:cNvSpPr>
            <a:spLocks noGrp="1"/>
          </p:cNvSpPr>
          <p:nvPr>
            <p:ph idx="1"/>
          </p:nvPr>
        </p:nvSpPr>
        <p:spPr/>
        <p:txBody>
          <a:bodyPr>
            <a:normAutofit/>
          </a:bodyPr>
          <a:lstStyle/>
          <a:p>
            <a:pPr lvl="1"/>
            <a:r>
              <a:rPr lang="en-US" dirty="0" smtClean="0"/>
              <a:t>First-time </a:t>
            </a:r>
            <a:r>
              <a:rPr lang="en-US" dirty="0"/>
              <a:t>buyer </a:t>
            </a:r>
            <a:r>
              <a:rPr lang="en-US" dirty="0" smtClean="0"/>
              <a:t>uncertainty</a:t>
            </a:r>
          </a:p>
          <a:p>
            <a:pPr lvl="2"/>
            <a:r>
              <a:rPr lang="en-US" dirty="0" smtClean="0"/>
              <a:t>Careful marketing effort is required to make </a:t>
            </a:r>
            <a:r>
              <a:rPr lang="en-US" dirty="0"/>
              <a:t>the </a:t>
            </a:r>
            <a:r>
              <a:rPr lang="en-US" dirty="0" smtClean="0"/>
              <a:t>buyer the </a:t>
            </a:r>
            <a:r>
              <a:rPr lang="en-US" dirty="0"/>
              <a:t>initial purchase of the new product or </a:t>
            </a:r>
            <a:r>
              <a:rPr lang="en-US" dirty="0" smtClean="0"/>
              <a:t>service.</a:t>
            </a:r>
            <a:endParaRPr lang="en-US" dirty="0"/>
          </a:p>
          <a:p>
            <a:pPr lvl="1"/>
            <a:r>
              <a:rPr lang="en-US" dirty="0"/>
              <a:t>Short-time horizon and strategic </a:t>
            </a:r>
            <a:r>
              <a:rPr lang="en-US" dirty="0" smtClean="0"/>
              <a:t>uncertainty</a:t>
            </a:r>
          </a:p>
          <a:p>
            <a:pPr lvl="2"/>
            <a:r>
              <a:rPr lang="en-US" dirty="0"/>
              <a:t>Short-run results are often given major attention, while long-run results are given little consideration, creating strategic uncertainty.</a:t>
            </a:r>
          </a:p>
        </p:txBody>
      </p:sp>
    </p:spTree>
    <p:extLst>
      <p:ext uri="{BB962C8B-B14F-4D97-AF65-F5344CB8AC3E}">
        <p14:creationId xmlns:p14="http://schemas.microsoft.com/office/powerpoint/2010/main" val="617979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EVALUATION PROCESS</a:t>
            </a:r>
          </a:p>
        </p:txBody>
      </p:sp>
      <p:sp>
        <p:nvSpPr>
          <p:cNvPr id="3" name="Content Placeholder 2"/>
          <p:cNvSpPr>
            <a:spLocks noGrp="1"/>
          </p:cNvSpPr>
          <p:nvPr>
            <p:ph idx="1"/>
          </p:nvPr>
        </p:nvSpPr>
        <p:spPr/>
        <p:txBody>
          <a:bodyPr>
            <a:normAutofit/>
          </a:bodyPr>
          <a:lstStyle/>
          <a:p>
            <a:r>
              <a:rPr lang="en-US" dirty="0"/>
              <a:t>VALUE CHAIN </a:t>
            </a:r>
            <a:r>
              <a:rPr lang="en-US" dirty="0" smtClean="0"/>
              <a:t>ANALYSIS</a:t>
            </a:r>
          </a:p>
          <a:p>
            <a:pPr lvl="1"/>
            <a:r>
              <a:rPr lang="en-US" sz="2500" dirty="0"/>
              <a:t>Any business is set within an industry value </a:t>
            </a:r>
            <a:r>
              <a:rPr lang="en-US" sz="2500" dirty="0" smtClean="0"/>
              <a:t>chain.</a:t>
            </a:r>
          </a:p>
          <a:p>
            <a:pPr lvl="1"/>
            <a:r>
              <a:rPr lang="en-US" sz="2500" dirty="0" smtClean="0"/>
              <a:t>Each </a:t>
            </a:r>
            <a:r>
              <a:rPr lang="en-US" sz="2500" dirty="0"/>
              <a:t>link </a:t>
            </a:r>
            <a:r>
              <a:rPr lang="en-US" sz="2500" dirty="0" smtClean="0"/>
              <a:t>in the chain must </a:t>
            </a:r>
            <a:r>
              <a:rPr lang="en-US" sz="2500" dirty="0"/>
              <a:t>be able to purchase its supplies and sell its goods or services at a profit margin that enables the whole chain to produce, distribute and deliver the good/service to the end user at a price the end user is willing to pay.</a:t>
            </a:r>
          </a:p>
        </p:txBody>
      </p:sp>
      <p:pic>
        <p:nvPicPr>
          <p:cNvPr id="2050" name="Picture 2" descr="C:\Users\qasim.NATIONALFURNISH\Desktop\v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798" y="5362575"/>
            <a:ext cx="6145213" cy="819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91863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EVALUATION PROCESS</a:t>
            </a:r>
          </a:p>
        </p:txBody>
      </p:sp>
      <p:sp>
        <p:nvSpPr>
          <p:cNvPr id="3" name="Content Placeholder 2"/>
          <p:cNvSpPr>
            <a:spLocks noGrp="1"/>
          </p:cNvSpPr>
          <p:nvPr>
            <p:ph idx="1"/>
          </p:nvPr>
        </p:nvSpPr>
        <p:spPr/>
        <p:txBody>
          <a:bodyPr/>
          <a:lstStyle/>
          <a:p>
            <a:r>
              <a:rPr lang="en-US" dirty="0"/>
              <a:t>PORTER’S FIVE FORCES MODEL</a:t>
            </a:r>
          </a:p>
        </p:txBody>
      </p:sp>
      <p:pic>
        <p:nvPicPr>
          <p:cNvPr id="3074" name="Picture 2" descr="C:\Users\qasim.NATIONALFURNISH\Desktop\pff.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362200"/>
            <a:ext cx="7850187" cy="399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02497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EVALUATION PROCESS</a:t>
            </a:r>
          </a:p>
        </p:txBody>
      </p:sp>
      <p:sp>
        <p:nvSpPr>
          <p:cNvPr id="3" name="Content Placeholder 2"/>
          <p:cNvSpPr>
            <a:spLocks noGrp="1"/>
          </p:cNvSpPr>
          <p:nvPr>
            <p:ph idx="1"/>
          </p:nvPr>
        </p:nvSpPr>
        <p:spPr/>
        <p:txBody>
          <a:bodyPr>
            <a:normAutofit fontScale="92500" lnSpcReduction="10000"/>
          </a:bodyPr>
          <a:lstStyle/>
          <a:p>
            <a:r>
              <a:rPr lang="en-US" dirty="0"/>
              <a:t>PROFILE </a:t>
            </a:r>
            <a:r>
              <a:rPr lang="en-US" dirty="0" smtClean="0"/>
              <a:t>ANALYSIS</a:t>
            </a:r>
          </a:p>
          <a:p>
            <a:pPr lvl="1"/>
            <a:r>
              <a:rPr lang="en-US" dirty="0" smtClean="0"/>
              <a:t>It works with an internal </a:t>
            </a:r>
            <a:r>
              <a:rPr lang="en-US" dirty="0"/>
              <a:t>focus </a:t>
            </a:r>
            <a:r>
              <a:rPr lang="en-US" dirty="0" smtClean="0"/>
              <a:t>to determine </a:t>
            </a:r>
            <a:r>
              <a:rPr lang="en-US" dirty="0"/>
              <a:t>the resources available to a new venture</a:t>
            </a:r>
            <a:r>
              <a:rPr lang="en-US" dirty="0" smtClean="0"/>
              <a:t>.</a:t>
            </a:r>
          </a:p>
          <a:p>
            <a:pPr lvl="1"/>
            <a:r>
              <a:rPr lang="en-US" dirty="0" smtClean="0"/>
              <a:t>A checklist </a:t>
            </a:r>
            <a:r>
              <a:rPr lang="en-US" dirty="0"/>
              <a:t>approach </a:t>
            </a:r>
            <a:r>
              <a:rPr lang="en-US" dirty="0" smtClean="0"/>
              <a:t>is followed which allows </a:t>
            </a:r>
            <a:r>
              <a:rPr lang="en-US" dirty="0"/>
              <a:t>entrepreneurs to identify major strengths and weaknesses in the financial, marketing, </a:t>
            </a:r>
            <a:r>
              <a:rPr lang="en-US" dirty="0" smtClean="0"/>
              <a:t>organizational </a:t>
            </a:r>
            <a:r>
              <a:rPr lang="en-US" dirty="0"/>
              <a:t>and human resource factors needed for the venture to progress </a:t>
            </a:r>
            <a:r>
              <a:rPr lang="en-US" dirty="0" smtClean="0"/>
              <a:t>successfully.</a:t>
            </a:r>
          </a:p>
          <a:p>
            <a:pPr lvl="1"/>
            <a:r>
              <a:rPr lang="en-US" dirty="0" smtClean="0"/>
              <a:t>The analysis can help avoid many external threats.</a:t>
            </a:r>
            <a:endParaRPr lang="en-US" dirty="0"/>
          </a:p>
        </p:txBody>
      </p:sp>
    </p:spTree>
    <p:extLst>
      <p:ext uri="{BB962C8B-B14F-4D97-AF65-F5344CB8AC3E}">
        <p14:creationId xmlns:p14="http://schemas.microsoft.com/office/powerpoint/2010/main" val="42365069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EVALUATION PROCESS</a:t>
            </a:r>
          </a:p>
        </p:txBody>
      </p:sp>
      <p:sp>
        <p:nvSpPr>
          <p:cNvPr id="3" name="Content Placeholder 2"/>
          <p:cNvSpPr>
            <a:spLocks noGrp="1"/>
          </p:cNvSpPr>
          <p:nvPr>
            <p:ph idx="1"/>
          </p:nvPr>
        </p:nvSpPr>
        <p:spPr/>
        <p:txBody>
          <a:bodyPr>
            <a:normAutofit fontScale="70000" lnSpcReduction="20000"/>
          </a:bodyPr>
          <a:lstStyle/>
          <a:p>
            <a:r>
              <a:rPr lang="en-US" sz="3500" dirty="0"/>
              <a:t>FEASIBILITY CRITERIA </a:t>
            </a:r>
            <a:r>
              <a:rPr lang="en-US" sz="3500" dirty="0" smtClean="0"/>
              <a:t>ANALYSIS</a:t>
            </a:r>
          </a:p>
          <a:p>
            <a:pPr lvl="1"/>
            <a:r>
              <a:rPr lang="en-US" sz="3000" dirty="0"/>
              <a:t>Are the initial production costs realistic</a:t>
            </a:r>
            <a:r>
              <a:rPr lang="en-US" sz="3000" dirty="0" smtClean="0"/>
              <a:t>?</a:t>
            </a:r>
          </a:p>
          <a:p>
            <a:pPr lvl="1"/>
            <a:r>
              <a:rPr lang="en-US" sz="3000" dirty="0"/>
              <a:t>Are the initial marketing costs realistic</a:t>
            </a:r>
            <a:r>
              <a:rPr lang="en-US" sz="3000" dirty="0" smtClean="0"/>
              <a:t>?</a:t>
            </a:r>
          </a:p>
          <a:p>
            <a:pPr lvl="1"/>
            <a:r>
              <a:rPr lang="en-US" sz="3000" dirty="0"/>
              <a:t>Does the product have potential for very high margins? </a:t>
            </a:r>
            <a:endParaRPr lang="en-US" sz="3000" dirty="0" smtClean="0"/>
          </a:p>
          <a:p>
            <a:pPr lvl="1"/>
            <a:r>
              <a:rPr lang="en-US" sz="3000" dirty="0"/>
              <a:t>Is the time required to get to market and to reach the break-even point realistic</a:t>
            </a:r>
            <a:r>
              <a:rPr lang="en-US" sz="3000" dirty="0" smtClean="0"/>
              <a:t>?</a:t>
            </a:r>
          </a:p>
          <a:p>
            <a:pPr lvl="1"/>
            <a:r>
              <a:rPr lang="en-US" sz="3000" dirty="0"/>
              <a:t>Is the potential </a:t>
            </a:r>
            <a:r>
              <a:rPr lang="en-US" sz="3000" dirty="0" smtClean="0"/>
              <a:t>market sufficiently </a:t>
            </a:r>
            <a:r>
              <a:rPr lang="en-US" sz="3000" dirty="0"/>
              <a:t>large</a:t>
            </a:r>
            <a:r>
              <a:rPr lang="en-US" sz="3000" dirty="0" smtClean="0"/>
              <a:t>?</a:t>
            </a:r>
          </a:p>
          <a:p>
            <a:pPr lvl="1"/>
            <a:r>
              <a:rPr lang="en-US" sz="3000" dirty="0"/>
              <a:t>Is the product the first of a growing family</a:t>
            </a:r>
            <a:r>
              <a:rPr lang="en-US" sz="3000" dirty="0" smtClean="0"/>
              <a:t>?</a:t>
            </a:r>
          </a:p>
          <a:p>
            <a:pPr lvl="1"/>
            <a:r>
              <a:rPr lang="en-US" sz="3000" dirty="0"/>
              <a:t>Do initial customers exist</a:t>
            </a:r>
            <a:r>
              <a:rPr lang="en-US" sz="3000" dirty="0" smtClean="0"/>
              <a:t>?</a:t>
            </a:r>
          </a:p>
          <a:p>
            <a:pPr lvl="1"/>
            <a:r>
              <a:rPr lang="en-US" sz="3000" dirty="0"/>
              <a:t>Are the development costs and calendar times realistic</a:t>
            </a:r>
            <a:r>
              <a:rPr lang="en-US" sz="3000" dirty="0" smtClean="0"/>
              <a:t>?</a:t>
            </a:r>
          </a:p>
          <a:p>
            <a:pPr lvl="1"/>
            <a:r>
              <a:rPr lang="en-US" sz="3000" dirty="0"/>
              <a:t>Is this a growing industry</a:t>
            </a:r>
            <a:r>
              <a:rPr lang="en-US" sz="3000" dirty="0" smtClean="0"/>
              <a:t>?</a:t>
            </a:r>
          </a:p>
          <a:p>
            <a:pPr lvl="1"/>
            <a:r>
              <a:rPr lang="en-US" sz="3000" dirty="0"/>
              <a:t>Can the product – and the need for it – be understood by the financial community?</a:t>
            </a:r>
          </a:p>
        </p:txBody>
      </p:sp>
    </p:spTree>
    <p:extLst>
      <p:ext uri="{BB962C8B-B14F-4D97-AF65-F5344CB8AC3E}">
        <p14:creationId xmlns:p14="http://schemas.microsoft.com/office/powerpoint/2010/main" val="35294267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EMERGENCE OF ENTREPRENEURIAL ECOSYSTEMS </a:t>
            </a:r>
          </a:p>
        </p:txBody>
      </p:sp>
      <p:sp>
        <p:nvSpPr>
          <p:cNvPr id="3" name="Content Placeholder 2"/>
          <p:cNvSpPr>
            <a:spLocks noGrp="1"/>
          </p:cNvSpPr>
          <p:nvPr>
            <p:ph idx="1"/>
          </p:nvPr>
        </p:nvSpPr>
        <p:spPr/>
        <p:txBody>
          <a:bodyPr/>
          <a:lstStyle/>
          <a:p>
            <a:r>
              <a:rPr lang="en-US" dirty="0" smtClean="0"/>
              <a:t>Entrepreneurs </a:t>
            </a:r>
            <a:r>
              <a:rPr lang="en-US" dirty="0"/>
              <a:t>are most successful when they have access to the human, financial and professional resources they need, and operate in an environment in which policies encourage and safeguard entrepreneurs. This network is described as the ‘entrepreneurship </a:t>
            </a:r>
            <a:r>
              <a:rPr lang="en-US" dirty="0" smtClean="0"/>
              <a:t>ecosystem.’</a:t>
            </a:r>
            <a:endParaRPr lang="en-US" dirty="0"/>
          </a:p>
        </p:txBody>
      </p:sp>
    </p:spTree>
    <p:extLst>
      <p:ext uri="{BB962C8B-B14F-4D97-AF65-F5344CB8AC3E}">
        <p14:creationId xmlns:p14="http://schemas.microsoft.com/office/powerpoint/2010/main" val="9499220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EMERGENCE OF ENTREPRENEURIAL ECOSYSTEMS </a:t>
            </a:r>
          </a:p>
        </p:txBody>
      </p:sp>
      <p:sp>
        <p:nvSpPr>
          <p:cNvPr id="3" name="Content Placeholder 2"/>
          <p:cNvSpPr>
            <a:spLocks noGrp="1"/>
          </p:cNvSpPr>
          <p:nvPr>
            <p:ph idx="1"/>
          </p:nvPr>
        </p:nvSpPr>
        <p:spPr/>
        <p:txBody>
          <a:bodyPr>
            <a:normAutofit fontScale="92500" lnSpcReduction="10000"/>
          </a:bodyPr>
          <a:lstStyle/>
          <a:p>
            <a:r>
              <a:rPr lang="en-US" dirty="0" smtClean="0"/>
              <a:t>A supportive environment makes entrepreneurs to find:</a:t>
            </a:r>
          </a:p>
          <a:p>
            <a:pPr lvl="1"/>
            <a:r>
              <a:rPr lang="en-US" dirty="0" smtClean="0"/>
              <a:t>an </a:t>
            </a:r>
            <a:r>
              <a:rPr lang="en-US" dirty="0"/>
              <a:t>abundance of experience to draw </a:t>
            </a:r>
            <a:r>
              <a:rPr lang="en-US" dirty="0" smtClean="0"/>
              <a:t>upon for decision making support; </a:t>
            </a:r>
          </a:p>
          <a:p>
            <a:pPr lvl="1"/>
            <a:r>
              <a:rPr lang="en-US" dirty="0" smtClean="0"/>
              <a:t>a </a:t>
            </a:r>
            <a:r>
              <a:rPr lang="en-US" dirty="0"/>
              <a:t>more willing and open capital market for technology </a:t>
            </a:r>
            <a:r>
              <a:rPr lang="en-US" dirty="0" smtClean="0"/>
              <a:t>ideas; </a:t>
            </a:r>
          </a:p>
          <a:p>
            <a:pPr lvl="1"/>
            <a:r>
              <a:rPr lang="en-US" dirty="0" smtClean="0"/>
              <a:t>stronger </a:t>
            </a:r>
            <a:r>
              <a:rPr lang="en-US" dirty="0"/>
              <a:t>bonds between industry and </a:t>
            </a:r>
            <a:r>
              <a:rPr lang="en-US" dirty="0" smtClean="0"/>
              <a:t>universities; and </a:t>
            </a:r>
          </a:p>
          <a:p>
            <a:pPr lvl="1"/>
            <a:r>
              <a:rPr lang="en-US" dirty="0" smtClean="0"/>
              <a:t>a </a:t>
            </a:r>
            <a:r>
              <a:rPr lang="en-US" dirty="0"/>
              <a:t>culture that wonders what’s wrong with you if you’re not starting a company rather than wondering why you would bother.</a:t>
            </a:r>
          </a:p>
        </p:txBody>
      </p:sp>
    </p:spTree>
    <p:extLst>
      <p:ext uri="{BB962C8B-B14F-4D97-AF65-F5344CB8AC3E}">
        <p14:creationId xmlns:p14="http://schemas.microsoft.com/office/powerpoint/2010/main" val="10978898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514600"/>
            <a:ext cx="8229600" cy="1143000"/>
          </a:xfrm>
        </p:spPr>
        <p:txBody>
          <a:bodyPr/>
          <a:lstStyle/>
          <a:p>
            <a:r>
              <a:rPr lang="en-US" dirty="0" smtClean="0"/>
              <a:t>THANKS</a:t>
            </a:r>
            <a:endParaRPr lang="en-US" dirty="0"/>
          </a:p>
        </p:txBody>
      </p:sp>
    </p:spTree>
    <p:extLst>
      <p:ext uri="{BB962C8B-B14F-4D97-AF65-F5344CB8AC3E}">
        <p14:creationId xmlns:p14="http://schemas.microsoft.com/office/powerpoint/2010/main" val="5342870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a:latin typeface="Century Gothic" pitchFamily="34" charset="0"/>
              </a:rPr>
              <a:t>Entrepreneurship: Theory/Process/Practice 4</a:t>
            </a:r>
            <a:r>
              <a:rPr lang="en-US" baseline="30000" dirty="0">
                <a:latin typeface="Century Gothic" pitchFamily="34" charset="0"/>
              </a:rPr>
              <a:t>th</a:t>
            </a:r>
            <a:r>
              <a:rPr lang="en-US" dirty="0">
                <a:latin typeface="Century Gothic" pitchFamily="34" charset="0"/>
              </a:rPr>
              <a:t> Edition Howard Frederick, Allan O’Connor, Donald F. </a:t>
            </a:r>
            <a:r>
              <a:rPr lang="en-US" dirty="0" err="1">
                <a:latin typeface="Century Gothic" pitchFamily="34" charset="0"/>
              </a:rPr>
              <a:t>Kuratko</a:t>
            </a:r>
            <a:endParaRPr lang="en-US" dirty="0">
              <a:latin typeface="Century Gothic" pitchFamily="34" charset="0"/>
            </a:endParaRPr>
          </a:p>
          <a:p>
            <a:pPr marL="0" indent="0">
              <a:buNone/>
            </a:pPr>
            <a:endParaRPr lang="en-US" dirty="0"/>
          </a:p>
        </p:txBody>
      </p:sp>
    </p:spTree>
    <p:extLst>
      <p:ext uri="{BB962C8B-B14F-4D97-AF65-F5344CB8AC3E}">
        <p14:creationId xmlns:p14="http://schemas.microsoft.com/office/powerpoint/2010/main" val="196344423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461</TotalTime>
  <Words>1189</Words>
  <Application>Microsoft Office PowerPoint</Application>
  <PresentationFormat>On-screen Show (4:3)</PresentationFormat>
  <Paragraphs>107</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THE ASSESSMENT OF ENTREPRENEURIAL OPPORTUNITIES</vt:lpstr>
      <vt:lpstr>THE ELEMENTS OF AN OPPORTUNITY ASSESSMENT</vt:lpstr>
      <vt:lpstr>THE ELEMENTS OF AN OPPORTUNITY ASSESSMENT</vt:lpstr>
      <vt:lpstr>HOW DO WE MODEL THE ENTREPRENEURIAL PROCESS?</vt:lpstr>
      <vt:lpstr>HOW DO WE MODEL THE ENTREPRENEURIAL PROCESS?</vt:lpstr>
      <vt:lpstr>HOW DO WE MODEL THE ENTREPRENEURIAL PROCESS?</vt:lpstr>
      <vt:lpstr>HOW TO ASSESS AN OPPORTUNITY</vt:lpstr>
      <vt:lpstr>HOW TO ASSESS AN OPPORTUNITY</vt:lpstr>
      <vt:lpstr>WHEN IS AN IDEA NOT AN OPPORTUNITY?</vt:lpstr>
      <vt:lpstr>THE EVALUATION PROCESS</vt:lpstr>
      <vt:lpstr>THE EVALUATION PROCESS</vt:lpstr>
      <vt:lpstr>THE EVALUATION PROCESS</vt:lpstr>
      <vt:lpstr>THE EVALUATION PROCESS</vt:lpstr>
      <vt:lpstr>THE EVALUATION PROCESS</vt:lpstr>
      <vt:lpstr>THE EVALUATION PROCESS</vt:lpstr>
      <vt:lpstr>THE EVALUATION PROCESS</vt:lpstr>
      <vt:lpstr>THE EVALUATION PROCESS</vt:lpstr>
      <vt:lpstr>THE EMERGENCE OF ENTREPRENEURIAL ECOSYSTEMS </vt:lpstr>
      <vt:lpstr>THE EMERGENCE OF ENTREPRENEURIAL ECOSYSTEMS </vt:lpstr>
      <vt:lpstr>THANKS</vt:lpstr>
      <vt:lpstr>REFERENCES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ASSESSMENT OF ENTREPRENEURIAL OPPORTUNITIES</dc:title>
  <dc:creator>qasim ali</dc:creator>
  <cp:lastModifiedBy>qasim ali</cp:lastModifiedBy>
  <cp:revision>62</cp:revision>
  <dcterms:created xsi:type="dcterms:W3CDTF">2006-08-16T00:00:00Z</dcterms:created>
  <dcterms:modified xsi:type="dcterms:W3CDTF">2020-04-29T23:11:07Z</dcterms:modified>
</cp:coreProperties>
</file>