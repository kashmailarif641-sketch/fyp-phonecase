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TuesdayTue/19/05/2020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GLOBAL OPPORTUNITIES FOR ENTREPRENEURS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2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YOUR MOTIVATIONS FOR GOING GLOBAL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Profit </a:t>
            </a:r>
            <a:r>
              <a:rPr lang="en-US" dirty="0" smtClean="0"/>
              <a:t>maximization</a:t>
            </a:r>
            <a:endParaRPr lang="en-US" dirty="0"/>
          </a:p>
          <a:p>
            <a:pPr lvl="1"/>
            <a:r>
              <a:rPr lang="en-US" dirty="0"/>
              <a:t>Market </a:t>
            </a:r>
            <a:r>
              <a:rPr lang="en-US" dirty="0" smtClean="0"/>
              <a:t>share</a:t>
            </a:r>
          </a:p>
          <a:p>
            <a:pPr lvl="1"/>
            <a:r>
              <a:rPr lang="en-US" dirty="0" smtClean="0"/>
              <a:t>Maximizing </a:t>
            </a:r>
            <a:r>
              <a:rPr lang="en-US" dirty="0"/>
              <a:t>cash </a:t>
            </a:r>
            <a:r>
              <a:rPr lang="en-US" dirty="0" smtClean="0"/>
              <a:t>flow</a:t>
            </a:r>
          </a:p>
          <a:p>
            <a:pPr lvl="1"/>
            <a:r>
              <a:rPr lang="en-US" dirty="0"/>
              <a:t>Repositioning the </a:t>
            </a:r>
            <a:r>
              <a:rPr lang="en-US" dirty="0" smtClean="0"/>
              <a:t>business</a:t>
            </a:r>
          </a:p>
          <a:p>
            <a:pPr lvl="1"/>
            <a:r>
              <a:rPr lang="en-US" dirty="0" smtClean="0"/>
              <a:t>New knowledge for domestic </a:t>
            </a:r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29447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IMPORTING AND GLOBAL </a:t>
            </a:r>
            <a:r>
              <a:rPr lang="en-US" dirty="0" smtClean="0"/>
              <a:t>SOURCING</a:t>
            </a:r>
          </a:p>
          <a:p>
            <a:pPr lvl="1"/>
            <a:r>
              <a:rPr lang="en-US" dirty="0"/>
              <a:t>Importing or global sourcing is buying and shipping foreign-produced goods from foreign </a:t>
            </a:r>
            <a:r>
              <a:rPr lang="en-US" dirty="0" smtClean="0"/>
              <a:t>sources.</a:t>
            </a:r>
          </a:p>
          <a:p>
            <a:pPr lvl="1"/>
            <a:r>
              <a:rPr lang="en-US" dirty="0" smtClean="0"/>
              <a:t>It offers efficiencies in quality, low-cost </a:t>
            </a:r>
            <a:r>
              <a:rPr lang="en-US" dirty="0"/>
              <a:t>skilled </a:t>
            </a:r>
            <a:r>
              <a:rPr lang="en-US" dirty="0" smtClean="0"/>
              <a:t>labor</a:t>
            </a:r>
            <a:r>
              <a:rPr lang="en-US" dirty="0"/>
              <a:t>, low-cost raw </a:t>
            </a:r>
            <a:r>
              <a:rPr lang="en-US" dirty="0" smtClean="0"/>
              <a:t>materials, </a:t>
            </a:r>
            <a:r>
              <a:rPr lang="en-US" dirty="0"/>
              <a:t>and other economic factors such as tax breaks and low trade </a:t>
            </a:r>
            <a:r>
              <a:rPr lang="en-US" dirty="0" smtClean="0"/>
              <a:t>tariffs.</a:t>
            </a:r>
          </a:p>
          <a:p>
            <a:pPr lvl="1"/>
            <a:r>
              <a:rPr lang="en-US" dirty="0" smtClean="0"/>
              <a:t>Disadvantages may include travel </a:t>
            </a:r>
            <a:r>
              <a:rPr lang="en-US" dirty="0"/>
              <a:t>and communication time, broker’s and an agent’s fees, cost of </a:t>
            </a:r>
            <a:r>
              <a:rPr lang="en-US" dirty="0" smtClean="0"/>
              <a:t>distribution,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24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EXPORTING</a:t>
            </a:r>
          </a:p>
          <a:p>
            <a:pPr lvl="1"/>
            <a:r>
              <a:rPr lang="en-US" dirty="0" smtClean="0"/>
              <a:t>Exporting is </a:t>
            </a:r>
            <a:r>
              <a:rPr lang="en-US" dirty="0"/>
              <a:t>shipping and selling locally produced products and services abroad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Indirect exporting: means </a:t>
            </a:r>
            <a:r>
              <a:rPr lang="en-US" dirty="0"/>
              <a:t>selling goods to foreign buyers through third parties such as export agents, export merchants or buying houses rather setting up expensive </a:t>
            </a:r>
            <a:r>
              <a:rPr lang="en-US" dirty="0" smtClean="0"/>
              <a:t>subsidiaries abroad (direct exporting).</a:t>
            </a:r>
          </a:p>
          <a:p>
            <a:pPr lvl="1"/>
            <a:r>
              <a:rPr lang="en-US" dirty="0" smtClean="0"/>
              <a:t>Strategic alliance: </a:t>
            </a:r>
            <a:r>
              <a:rPr lang="en-US" dirty="0"/>
              <a:t>is any formal </a:t>
            </a:r>
            <a:r>
              <a:rPr lang="en-US" dirty="0" smtClean="0"/>
              <a:t>relationship between </a:t>
            </a:r>
            <a:r>
              <a:rPr lang="en-US" dirty="0"/>
              <a:t>two </a:t>
            </a:r>
            <a:r>
              <a:rPr lang="en-US" dirty="0" smtClean="0"/>
              <a:t>companies</a:t>
            </a:r>
            <a:r>
              <a:rPr lang="en-US" dirty="0"/>
              <a:t> </a:t>
            </a:r>
            <a:r>
              <a:rPr lang="en-US" dirty="0" smtClean="0"/>
              <a:t>to access </a:t>
            </a:r>
            <a:r>
              <a:rPr lang="en-US" dirty="0"/>
              <a:t>to a partner’s resources, including markets, technologies, capital and </a:t>
            </a:r>
            <a:r>
              <a:rPr lang="en-US" dirty="0" smtClean="0"/>
              <a:t>people.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57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 smtClean="0"/>
              <a:t>Foreign </a:t>
            </a:r>
            <a:r>
              <a:rPr lang="en-US" dirty="0"/>
              <a:t>agent: </a:t>
            </a:r>
            <a:r>
              <a:rPr lang="en-US" dirty="0" smtClean="0"/>
              <a:t>earns a low </a:t>
            </a:r>
            <a:r>
              <a:rPr lang="en-US" dirty="0"/>
              <a:t>salary and </a:t>
            </a:r>
            <a:r>
              <a:rPr lang="en-US" dirty="0" smtClean="0"/>
              <a:t>commission to sell the goods owned by </a:t>
            </a:r>
            <a:r>
              <a:rPr lang="en-US" dirty="0"/>
              <a:t>a </a:t>
            </a:r>
            <a:r>
              <a:rPr lang="en-US" dirty="0" smtClean="0"/>
              <a:t>producer and as </a:t>
            </a:r>
            <a:r>
              <a:rPr lang="en-US" dirty="0"/>
              <a:t>sales increase, so do commissions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Retail outlets: are </a:t>
            </a:r>
            <a:r>
              <a:rPr lang="en-US" dirty="0"/>
              <a:t>owned and operated by the parent company </a:t>
            </a:r>
            <a:r>
              <a:rPr lang="en-US" dirty="0" smtClean="0"/>
              <a:t>giving it direct </a:t>
            </a:r>
            <a:r>
              <a:rPr lang="en-US" dirty="0"/>
              <a:t>control over the whole distribution chain from initial production to final sale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Export </a:t>
            </a:r>
            <a:r>
              <a:rPr lang="en-US" dirty="0" smtClean="0"/>
              <a:t>consortium: is the </a:t>
            </a:r>
            <a:r>
              <a:rPr lang="en-US" dirty="0"/>
              <a:t>most common </a:t>
            </a:r>
            <a:r>
              <a:rPr lang="en-US" dirty="0" smtClean="0"/>
              <a:t>method involving </a:t>
            </a:r>
            <a:r>
              <a:rPr lang="en-US" dirty="0"/>
              <a:t>a joint bid by several small firms to bid on a foreign project.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07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JOINT VENTURE </a:t>
            </a:r>
            <a:endParaRPr lang="en-US" dirty="0" smtClean="0"/>
          </a:p>
          <a:p>
            <a:pPr lvl="1"/>
            <a:r>
              <a:rPr lang="en-US" dirty="0" smtClean="0"/>
              <a:t>is </a:t>
            </a:r>
            <a:r>
              <a:rPr lang="en-US" dirty="0"/>
              <a:t>a business collaboration in which two or more parties (with one or more potentially being an international firm) establish a new business enterprise to which each contributes and in which ownership and control are shared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It offers intimate </a:t>
            </a:r>
            <a:r>
              <a:rPr lang="en-US" dirty="0"/>
              <a:t>knowledge of the local conditions</a:t>
            </a:r>
            <a:r>
              <a:rPr lang="en-US" dirty="0" smtClean="0"/>
              <a:t>, </a:t>
            </a:r>
            <a:r>
              <a:rPr lang="en-US" dirty="0"/>
              <a:t>new capacity and expertise, resources of the other </a:t>
            </a:r>
            <a:r>
              <a:rPr lang="en-US" dirty="0" smtClean="0"/>
              <a:t>firms,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1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FOREIGN </a:t>
            </a:r>
            <a:r>
              <a:rPr lang="en-US" dirty="0" smtClean="0"/>
              <a:t>INVESTMENT</a:t>
            </a:r>
          </a:p>
          <a:p>
            <a:pPr lvl="1"/>
            <a:r>
              <a:rPr lang="en-US" dirty="0"/>
              <a:t>is a domestically controlled foreign production </a:t>
            </a:r>
            <a:r>
              <a:rPr lang="en-US" dirty="0" smtClean="0"/>
              <a:t>facility </a:t>
            </a:r>
            <a:r>
              <a:rPr lang="en-US" dirty="0"/>
              <a:t>w</a:t>
            </a:r>
            <a:r>
              <a:rPr lang="en-US" dirty="0" smtClean="0"/>
              <a:t>hich typically </a:t>
            </a:r>
            <a:r>
              <a:rPr lang="en-US" dirty="0"/>
              <a:t>involves ownership of 10 to 25 per cent of the voting </a:t>
            </a:r>
            <a:r>
              <a:rPr lang="en-US" dirty="0" smtClean="0"/>
              <a:t>stock in foreign enterprise.</a:t>
            </a:r>
          </a:p>
          <a:p>
            <a:pPr lvl="1"/>
            <a:r>
              <a:rPr lang="en-US" dirty="0" smtClean="0"/>
              <a:t>It can offer increased </a:t>
            </a:r>
            <a:r>
              <a:rPr lang="en-US" dirty="0"/>
              <a:t>sales and </a:t>
            </a:r>
            <a:r>
              <a:rPr lang="en-US" dirty="0" smtClean="0"/>
              <a:t>better </a:t>
            </a:r>
            <a:r>
              <a:rPr lang="en-US" dirty="0"/>
              <a:t>competitive positions in </a:t>
            </a:r>
            <a:r>
              <a:rPr lang="en-US" dirty="0" smtClean="0"/>
              <a:t>the foreign marketplace along with potential tax benefits offered by foreign governments.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53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ROYALTIES AND </a:t>
            </a:r>
            <a:r>
              <a:rPr lang="en-US" dirty="0" smtClean="0"/>
              <a:t>LICENSING</a:t>
            </a:r>
          </a:p>
          <a:p>
            <a:pPr lvl="1"/>
            <a:r>
              <a:rPr lang="en-US" dirty="0"/>
              <a:t>A royalty is a payment made in return for being permitted to exercise a right owned by another </a:t>
            </a:r>
            <a:r>
              <a:rPr lang="en-US" dirty="0" smtClean="0"/>
              <a:t>person</a:t>
            </a:r>
            <a:r>
              <a:rPr lang="en-US" dirty="0"/>
              <a:t> e.g. C</a:t>
            </a:r>
            <a:r>
              <a:rPr lang="en-US" dirty="0" smtClean="0"/>
              <a:t>ompany A may use a microchip, made by Company B, in its computers and pay a royalty to </a:t>
            </a:r>
            <a:r>
              <a:rPr lang="en-US" dirty="0"/>
              <a:t>Company B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Licensing is a global market-entry tool in which the company enters into an agreement with a licensee in the foreign market, offering the right to use a manufacturing process, trademark, patent, trade </a:t>
            </a:r>
            <a:r>
              <a:rPr lang="en-US" dirty="0" smtClean="0"/>
              <a:t>secret, etc. for a fee.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22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I ACTUALLY GO GLOBAL?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MERGERS </a:t>
            </a:r>
            <a:r>
              <a:rPr lang="en-US" dirty="0"/>
              <a:t>AND </a:t>
            </a:r>
            <a:r>
              <a:rPr lang="en-US" dirty="0" smtClean="0"/>
              <a:t>ACQUISITIONS</a:t>
            </a:r>
          </a:p>
          <a:p>
            <a:pPr lvl="1"/>
            <a:r>
              <a:rPr lang="en-US" dirty="0"/>
              <a:t>are </a:t>
            </a:r>
            <a:r>
              <a:rPr lang="en-US" dirty="0" smtClean="0"/>
              <a:t>an important </a:t>
            </a:r>
            <a:r>
              <a:rPr lang="en-US" dirty="0"/>
              <a:t>way for companies to position themselves in a new market. </a:t>
            </a:r>
            <a:endParaRPr lang="en-US" dirty="0" smtClean="0"/>
          </a:p>
          <a:p>
            <a:pPr lvl="1"/>
            <a:r>
              <a:rPr lang="en-US" dirty="0" smtClean="0"/>
              <a:t>They </a:t>
            </a:r>
            <a:r>
              <a:rPr lang="en-US" dirty="0"/>
              <a:t>can also be important for companies seeking to develop greater economies of scale or to acquire new capabilities e.g. technology to complement or replace the currently used one.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6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BECOME A BORN-GLOBAL ENTREPRENEUR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CONDUCT RESEARCH </a:t>
            </a:r>
            <a:endParaRPr lang="en-US" dirty="0" smtClean="0"/>
          </a:p>
          <a:p>
            <a:pPr lvl="1"/>
            <a:r>
              <a:rPr lang="en-US" dirty="0"/>
              <a:t>Macro-level market </a:t>
            </a:r>
            <a:r>
              <a:rPr lang="en-US" dirty="0" smtClean="0"/>
              <a:t>attractiveness</a:t>
            </a:r>
          </a:p>
          <a:p>
            <a:pPr lvl="2"/>
            <a:r>
              <a:rPr lang="en-US" dirty="0" smtClean="0"/>
              <a:t>Which </a:t>
            </a:r>
            <a:r>
              <a:rPr lang="en-US" dirty="0"/>
              <a:t>markets should be given further attention? </a:t>
            </a:r>
          </a:p>
          <a:p>
            <a:pPr lvl="2"/>
            <a:r>
              <a:rPr lang="en-US" dirty="0" smtClean="0"/>
              <a:t>Is </a:t>
            </a:r>
            <a:r>
              <a:rPr lang="en-US" dirty="0"/>
              <a:t>there a basic need for the company’s product/service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Basic </a:t>
            </a:r>
            <a:r>
              <a:rPr lang="en-US" dirty="0" smtClean="0"/>
              <a:t>fit</a:t>
            </a:r>
          </a:p>
          <a:p>
            <a:pPr lvl="2"/>
            <a:r>
              <a:rPr lang="en-US" dirty="0" smtClean="0"/>
              <a:t>Are </a:t>
            </a:r>
            <a:r>
              <a:rPr lang="en-US" dirty="0"/>
              <a:t>business conditions suitable for the firm’s risk profile and capabilities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Economic </a:t>
            </a:r>
            <a:r>
              <a:rPr lang="en-US" dirty="0" smtClean="0"/>
              <a:t>environment</a:t>
            </a:r>
          </a:p>
          <a:p>
            <a:pPr lvl="2"/>
            <a:r>
              <a:rPr lang="en-US" dirty="0" smtClean="0"/>
              <a:t>What </a:t>
            </a:r>
            <a:r>
              <a:rPr lang="en-US" dirty="0"/>
              <a:t>is the relative overall market </a:t>
            </a:r>
            <a:r>
              <a:rPr lang="en-US" dirty="0" smtClean="0"/>
              <a:t>size?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375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BECOME A BORN-GLOBAL ENTREPRENEUR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Political/legal environment</a:t>
            </a:r>
          </a:p>
          <a:p>
            <a:pPr lvl="2"/>
            <a:r>
              <a:rPr lang="en-US" dirty="0"/>
              <a:t>How stable/risky is the political </a:t>
            </a:r>
            <a:r>
              <a:rPr lang="en-US" dirty="0" smtClean="0"/>
              <a:t>situation?</a:t>
            </a:r>
          </a:p>
          <a:p>
            <a:pPr lvl="1"/>
            <a:r>
              <a:rPr lang="en-US" dirty="0"/>
              <a:t>Financial </a:t>
            </a:r>
            <a:r>
              <a:rPr lang="en-US" dirty="0" smtClean="0"/>
              <a:t>environment</a:t>
            </a:r>
          </a:p>
          <a:p>
            <a:pPr lvl="2"/>
            <a:r>
              <a:rPr lang="en-US" dirty="0"/>
              <a:t>How stable/volatile is the overall </a:t>
            </a:r>
            <a:r>
              <a:rPr lang="en-US" dirty="0" smtClean="0"/>
              <a:t>economy?</a:t>
            </a:r>
          </a:p>
          <a:p>
            <a:pPr lvl="1"/>
            <a:r>
              <a:rPr lang="en-US" dirty="0"/>
              <a:t>Sociocultural environment </a:t>
            </a:r>
          </a:p>
          <a:p>
            <a:pPr lvl="2"/>
            <a:r>
              <a:rPr lang="en-US" dirty="0"/>
              <a:t>To what degree would the social structure affect/alter the way the firm does business</a:t>
            </a:r>
            <a:r>
              <a:rPr lang="en-US" dirty="0" smtClean="0"/>
              <a:t>?</a:t>
            </a:r>
          </a:p>
          <a:p>
            <a:pPr lvl="1"/>
            <a:r>
              <a:rPr lang="en-US" dirty="0"/>
              <a:t>Competitive considerations </a:t>
            </a:r>
            <a:endParaRPr lang="en-US" dirty="0" smtClean="0"/>
          </a:p>
          <a:p>
            <a:pPr lvl="2"/>
            <a:r>
              <a:rPr lang="en-US" dirty="0"/>
              <a:t>How strong is the current competition (their size and market share, the quality levels of their </a:t>
            </a:r>
            <a:r>
              <a:rPr lang="en-US" dirty="0" smtClean="0"/>
              <a:t>product, etc.?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39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BECOME A BORN-GLOBAL ENTREPRENEUR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PREPARE A GOING GLOBAL FEASIBILITY </a:t>
            </a:r>
            <a:r>
              <a:rPr lang="en-US" dirty="0" smtClean="0"/>
              <a:t>STUDY</a:t>
            </a:r>
          </a:p>
          <a:p>
            <a:pPr lvl="1"/>
            <a:r>
              <a:rPr lang="en-US" dirty="0"/>
              <a:t>The feasibility study is a critical document of the entry procedure in that it helps demonstrate how realistic the project is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The feasibility process involves:</a:t>
            </a:r>
          </a:p>
          <a:p>
            <a:pPr lvl="2"/>
            <a:r>
              <a:rPr lang="en-US" dirty="0"/>
              <a:t>Identification of international </a:t>
            </a:r>
            <a:r>
              <a:rPr lang="en-US" dirty="0" smtClean="0"/>
              <a:t>project</a:t>
            </a:r>
          </a:p>
          <a:p>
            <a:pPr lvl="2"/>
            <a:r>
              <a:rPr lang="en-US" dirty="0"/>
              <a:t>Statement of feasibility </a:t>
            </a:r>
          </a:p>
          <a:p>
            <a:pPr lvl="2"/>
            <a:r>
              <a:rPr lang="en-US" dirty="0" smtClean="0"/>
              <a:t>Summary </a:t>
            </a:r>
            <a:r>
              <a:rPr lang="en-US" dirty="0"/>
              <a:t>and/or conclusion </a:t>
            </a:r>
          </a:p>
          <a:p>
            <a:pPr lvl="2"/>
            <a:r>
              <a:rPr lang="en-US" dirty="0" smtClean="0"/>
              <a:t>Entry selection (e.g. joint venture, franchise, etc.)</a:t>
            </a:r>
          </a:p>
        </p:txBody>
      </p:sp>
    </p:spTree>
    <p:extLst>
      <p:ext uri="{BB962C8B-B14F-4D97-AF65-F5344CB8AC3E}">
        <p14:creationId xmlns:p14="http://schemas.microsoft.com/office/powerpoint/2010/main" val="4103643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BECOME A BORN-GLOBAL ENTREPRENEUR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dirty="0"/>
              <a:t>Market profile</a:t>
            </a:r>
          </a:p>
          <a:p>
            <a:pPr lvl="2"/>
            <a:r>
              <a:rPr lang="en-US" dirty="0"/>
              <a:t>Targeted consumer analysis</a:t>
            </a:r>
          </a:p>
          <a:p>
            <a:pPr lvl="2"/>
            <a:r>
              <a:rPr lang="en-US" dirty="0"/>
              <a:t>Legal considerations</a:t>
            </a:r>
          </a:p>
          <a:p>
            <a:pPr lvl="2"/>
            <a:r>
              <a:rPr lang="en-US" dirty="0"/>
              <a:t>Risk identification and analysis</a:t>
            </a:r>
          </a:p>
          <a:p>
            <a:pPr lvl="2"/>
            <a:r>
              <a:rPr lang="en-US" dirty="0"/>
              <a:t>Financial considerations</a:t>
            </a:r>
          </a:p>
          <a:p>
            <a:pPr lvl="2"/>
            <a:r>
              <a:rPr lang="en-US" dirty="0" smtClean="0"/>
              <a:t>Labor </a:t>
            </a:r>
            <a:r>
              <a:rPr lang="en-US" dirty="0"/>
              <a:t>and managerial considerations</a:t>
            </a:r>
          </a:p>
          <a:p>
            <a:pPr lvl="2"/>
            <a:r>
              <a:rPr lang="en-US" dirty="0"/>
              <a:t>Control strategies</a:t>
            </a:r>
          </a:p>
          <a:p>
            <a:pPr lvl="2"/>
            <a:r>
              <a:rPr lang="en-US" dirty="0"/>
              <a:t>Timetable for implementation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876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BECOME A BORN-GLOBAL ENTREPRENEUR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SECURE ADEQUATE </a:t>
            </a:r>
            <a:r>
              <a:rPr lang="en-US" dirty="0" smtClean="0"/>
              <a:t>FINANCING</a:t>
            </a:r>
          </a:p>
          <a:p>
            <a:pPr lvl="1"/>
            <a:r>
              <a:rPr lang="en-US" dirty="0"/>
              <a:t>the need for financing to make the sale – in some cases, </a:t>
            </a:r>
            <a:r>
              <a:rPr lang="en-US" dirty="0" smtClean="0"/>
              <a:t>favorable </a:t>
            </a:r>
            <a:r>
              <a:rPr lang="en-US" dirty="0"/>
              <a:t>payment terms make a product more </a:t>
            </a:r>
            <a:r>
              <a:rPr lang="en-US" dirty="0" smtClean="0"/>
              <a:t>competitive</a:t>
            </a:r>
          </a:p>
          <a:p>
            <a:pPr lvl="1"/>
            <a:r>
              <a:rPr lang="en-US" dirty="0"/>
              <a:t>the length of time the product is being financed – this determines how long the exporter will have to wait before payment is received and influences the choice of how the transaction is </a:t>
            </a:r>
            <a:r>
              <a:rPr lang="en-US" dirty="0" smtClean="0"/>
              <a:t>financed</a:t>
            </a:r>
          </a:p>
          <a:p>
            <a:pPr lvl="1"/>
            <a:r>
              <a:rPr lang="en-US" dirty="0"/>
              <a:t>the cost of different methods of financing – interest rates and fees </a:t>
            </a:r>
            <a:r>
              <a:rPr lang="en-US" dirty="0" smtClean="0"/>
              <a:t>vary</a:t>
            </a:r>
          </a:p>
          <a:p>
            <a:pPr lvl="1"/>
            <a:r>
              <a:rPr lang="en-US" dirty="0"/>
              <a:t>the risks associated with financing the transaction – the riskier the transaction, the harder and more costly it will be to finance</a:t>
            </a:r>
          </a:p>
        </p:txBody>
      </p:sp>
    </p:spTree>
    <p:extLst>
      <p:ext uri="{BB962C8B-B14F-4D97-AF65-F5344CB8AC3E}">
        <p14:creationId xmlns:p14="http://schemas.microsoft.com/office/powerpoint/2010/main" val="1765055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514600"/>
            <a:ext cx="8229600" cy="1143000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69934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Entrepreneurship: Theory/Process/Practice 4</a:t>
            </a:r>
            <a:r>
              <a:rPr lang="en-US" baseline="30000" dirty="0">
                <a:latin typeface="Century Gothic" panose="020B0502020202020204" pitchFamily="34" charset="0"/>
              </a:rPr>
              <a:t>th</a:t>
            </a:r>
            <a:r>
              <a:rPr lang="en-US" dirty="0">
                <a:latin typeface="Century Gothic" panose="020B0502020202020204" pitchFamily="34" charset="0"/>
              </a:rPr>
              <a:t> Edition Howard Frederick, Allan O’Connor, Donald F. </a:t>
            </a:r>
            <a:r>
              <a:rPr lang="en-US" dirty="0" err="1">
                <a:latin typeface="Century Gothic" panose="020B0502020202020204" pitchFamily="34" charset="0"/>
              </a:rPr>
              <a:t>Kuratko</a:t>
            </a:r>
            <a:endParaRPr lang="en-US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26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874</Words>
  <Application>Microsoft Office PowerPoint</Application>
  <PresentationFormat>On-screen Show (4:3)</PresentationFormat>
  <Paragraphs>83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GLOBAL OPPORTUNITIES FOR ENTREPRENEURS</vt:lpstr>
      <vt:lpstr>HOW DO I ACTUALLY GO GLOBAL?</vt:lpstr>
      <vt:lpstr>HOW DO I ACTUALLY GO GLOBAL?</vt:lpstr>
      <vt:lpstr>HOW DO I ACTUALLY GO GLOBAL?</vt:lpstr>
      <vt:lpstr>HOW DO I ACTUALLY GO GLOBAL?</vt:lpstr>
      <vt:lpstr>HOW DO I ACTUALLY GO GLOBAL?</vt:lpstr>
      <vt:lpstr>HOW DO I ACTUALLY GO GLOBAL?</vt:lpstr>
      <vt:lpstr>HOW DO I ACTUALLY GO GLOBAL?</vt:lpstr>
      <vt:lpstr>HOW DO I ACTUALLY GO GLOBAL?</vt:lpstr>
      <vt:lpstr>HOW TO BECOME A BORN-GLOBAL ENTREPRENEUR </vt:lpstr>
      <vt:lpstr>HOW TO BECOME A BORN-GLOBAL ENTREPRENEUR </vt:lpstr>
      <vt:lpstr>HOW TO BECOME A BORN-GLOBAL ENTREPRENEUR </vt:lpstr>
      <vt:lpstr>HOW TO BECOME A BORN-GLOBAL ENTREPRENEUR </vt:lpstr>
      <vt:lpstr>HOW TO BECOME A BORN-GLOBAL ENTREPRENEUR </vt:lpstr>
      <vt:lpstr>THANKS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qasim ali</dc:creator>
  <cp:lastModifiedBy>qasim ali</cp:lastModifiedBy>
  <cp:revision>79</cp:revision>
  <dcterms:created xsi:type="dcterms:W3CDTF">2006-08-16T00:00:00Z</dcterms:created>
  <dcterms:modified xsi:type="dcterms:W3CDTF">2020-05-19T11:36:22Z</dcterms:modified>
</cp:coreProperties>
</file>