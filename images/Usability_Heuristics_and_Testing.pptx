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Usability Heuristics &amp; Principles of Usability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Human–Computer Interaction (HCI)</a:t>
            </a:r>
          </a:p>
          <a:p>
            <a:r>
              <a:t>Purpose: Understand how usability is evaluated and improved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Usability?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Usability → Ease with which users can learn and use a system effectively.</a:t>
            </a:r>
          </a:p>
          <a:p>
            <a:pPr>
              <a:defRPr sz="2000"/>
            </a:pPr>
            <a:r>
              <a:t>Focus areas:</a:t>
            </a:r>
          </a:p>
          <a:p>
            <a:pPr>
              <a:defRPr sz="2000"/>
            </a:pPr>
            <a:r>
              <a:t>• Effectiveness – Can users achieve goals?</a:t>
            </a:r>
          </a:p>
          <a:p>
            <a:pPr>
              <a:defRPr sz="2000"/>
            </a:pPr>
            <a:r>
              <a:t>• Efficiency – How quickly and easily?</a:t>
            </a:r>
          </a:p>
          <a:p>
            <a:pPr>
              <a:defRPr sz="2000"/>
            </a:pPr>
            <a:r>
              <a:t>• Satisfaction – Are users happy with the experience?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Usability Heuristics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Developed by Jakob Nielsen (1994).</a:t>
            </a:r>
          </a:p>
          <a:p>
            <a:pPr>
              <a:defRPr sz="2000"/>
            </a:pPr>
            <a:r>
              <a:t>Serve as 'rules of thumb' for good interface design.</a:t>
            </a:r>
          </a:p>
          <a:p>
            <a:pPr>
              <a:defRPr sz="2000"/>
            </a:pPr>
            <a:r>
              <a:t>Used in heuristic evaluation – expert-based UI review.</a:t>
            </a:r>
          </a:p>
          <a:p>
            <a:pPr>
              <a:defRPr sz="2000"/>
            </a:pPr>
            <a:r>
              <a:t>Help detect usability problems early and cheaply.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Nielsen’s 10 Usability Heuristics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Visibility of System Status – Keep users informed.</a:t>
            </a:r>
          </a:p>
          <a:p>
            <a:pPr>
              <a:defRPr sz="2000"/>
            </a:pPr>
            <a:r>
              <a:t>2. Match Between System and Real World – Use familiar language.</a:t>
            </a:r>
          </a:p>
          <a:p>
            <a:pPr>
              <a:defRPr sz="2000"/>
            </a:pPr>
            <a:r>
              <a:t>3. User Control and Freedom – Provide 'Undo' and 'Cancel'.</a:t>
            </a:r>
          </a:p>
          <a:p>
            <a:pPr>
              <a:defRPr sz="2000"/>
            </a:pPr>
            <a:r>
              <a:t>4. Consistency and Standards – Follow conventions.</a:t>
            </a:r>
          </a:p>
          <a:p>
            <a:pPr>
              <a:defRPr sz="2000"/>
            </a:pPr>
            <a:r>
              <a:t>5. Error Prevention – Avoid mistakes before they happen.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Nielsen’s 10 Usability Heuristics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6. Recognition Rather Than Recall – Make options visible.</a:t>
            </a:r>
          </a:p>
          <a:p>
            <a:pPr>
              <a:defRPr sz="2000"/>
            </a:pPr>
            <a:r>
              <a:t>7. Flexibility and Efficiency – Shortcuts for experts.</a:t>
            </a:r>
          </a:p>
          <a:p>
            <a:pPr>
              <a:defRPr sz="2000"/>
            </a:pPr>
            <a:r>
              <a:t>8. Aesthetic and Minimalist Design – Keep simple.</a:t>
            </a:r>
          </a:p>
          <a:p>
            <a:pPr>
              <a:defRPr sz="2000"/>
            </a:pPr>
            <a:r>
              <a:t>9. Help Users Recover from Errors – Clear error messages.</a:t>
            </a:r>
          </a:p>
          <a:p>
            <a:pPr>
              <a:defRPr sz="2000"/>
            </a:pPr>
            <a:r>
              <a:t>10. Help and Documentation – Provide support material.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Usability Testing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Definition: Evaluate product by testing with real users.</a:t>
            </a:r>
          </a:p>
          <a:p>
            <a:pPr>
              <a:defRPr sz="2000"/>
            </a:pPr>
            <a:r>
              <a:t>Users perform realistic tasks while observers note issues.</a:t>
            </a:r>
          </a:p>
          <a:p>
            <a:pPr>
              <a:defRPr sz="2000"/>
            </a:pPr>
            <a:r>
              <a:t>Goal: Identify usability issues and improve design.</a:t>
            </a:r>
          </a:p>
          <a:p>
            <a:pPr>
              <a:defRPr sz="2000"/>
            </a:pPr>
            <a:r>
              <a:t>Method: Observe, record, and analyze user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Principles of 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Focus on real users (target audience).</a:t>
            </a:r>
          </a:p>
          <a:p>
            <a:pPr>
              <a:defRPr sz="2000"/>
            </a:pPr>
            <a:r>
              <a:t>2. Give realistic tasks.</a:t>
            </a:r>
          </a:p>
          <a:p>
            <a:pPr>
              <a:defRPr sz="2000"/>
            </a:pPr>
            <a:r>
              <a:t>3. Observe, don’t guide.</a:t>
            </a:r>
          </a:p>
          <a:p>
            <a:pPr>
              <a:defRPr sz="2000"/>
            </a:pPr>
            <a:r>
              <a:t>4. Measure task time, errors, success.</a:t>
            </a:r>
          </a:p>
          <a:p>
            <a:pPr>
              <a:defRPr sz="2000"/>
            </a:pPr>
            <a:r>
              <a:t>5. Gather user feedback.</a:t>
            </a:r>
          </a:p>
          <a:p>
            <a:pPr>
              <a:defRPr sz="2000"/>
            </a:pPr>
            <a:r>
              <a:t>6. Prioritize problems.</a:t>
            </a:r>
          </a:p>
          <a:p>
            <a:pPr>
              <a:defRPr sz="2000"/>
            </a:pPr>
            <a:r>
              <a:t>7. Iterate and retest after improvements.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Heuristics vs. 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Heuristic Evaluation – Expert-based, analytical, early in design, low cost.</a:t>
            </a:r>
          </a:p>
          <a:p>
            <a:pPr>
              <a:defRPr sz="2000"/>
            </a:pPr>
            <a:r>
              <a:t>Usability Testing – Real users, empirical, later stage, higher cost.</a:t>
            </a:r>
          </a:p>
          <a:p>
            <a:pPr>
              <a:defRPr sz="2000"/>
            </a:pPr>
            <a:r>
              <a:t>Both methods complement each other for best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